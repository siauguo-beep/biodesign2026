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DFD6"/>
                </a:solidFill>
                <a:latin typeface="Helvetica Neue"/>
              </a:rPr>
              <a:t>Extinction Archive: Umwelt Hypothesis Dossiers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6DFD6"/>
                </a:solidFill>
                <a:latin typeface="Helvetica Neue"/>
              </a:rPr>
              <a:t>AI memorial for lost species · Sensory time capsule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circadian · migration · synchrony · multisensory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383280"/>
            <a:ext cx="6035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6DFD6"/>
                </a:solidFill>
                <a:latin typeface="Helvetica Neue"/>
              </a:defRPr>
            </a:pPr>
            <a:r>
              <a:t>Biodesign Challenge 2026 · Convergent Life</a:t>
            </a:r>
          </a:p>
          <a:p>
            <a:pPr>
              <a:spcAft>
                <a:spcPts val="800"/>
              </a:spcAft>
              <a:defRPr sz="1800">
                <a:solidFill>
                  <a:srgbClr val="E6DFD6"/>
                </a:solidFill>
                <a:latin typeface="Helvetica Neue"/>
              </a:defRPr>
            </a:pPr>
            <a:r>
              <a:t>Digital Art &amp; AI Technology — MDes</a:t>
            </a:r>
          </a:p>
          <a:p>
            <a:pPr>
              <a:spcAft>
                <a:spcPts val="800"/>
              </a:spcAft>
              <a:defRPr sz="1800">
                <a:solidFill>
                  <a:srgbClr val="E6DFD6"/>
                </a:solidFill>
                <a:latin typeface="Helvetica Neue"/>
              </a:defRPr>
            </a:pPr>
            <a:r>
              <a:t>Literature-grounded memorial · biodigital experience · memory reshaping
Macau University · Mentor: Atticus SIMS · GUO XIAO YUE (MC569254) · LIU JIA QUN (MC569293)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097280"/>
            <a:ext cx="2926080" cy="411480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2286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DFD6"/>
                </a:solidFill>
                <a:latin typeface="Helvetica Neue"/>
              </a:rPr>
              <a:t>A biodigital memorial where extinction is experienced as rhythm, multisensory reminiscence, and consequence — with cognitive limits and uncertainty kept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Archive: Umwelt Hypothesis Dossiers · Biodigital chronobiology · BDC 2026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WHY THIS PROJECT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Extinction removes more than bodies.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It erases migration pulses, social synchrony, and seasonal fit to landscape.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Public memory often normalizes ecological absence after enough time passes.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This project asks how constrained computation can make loss legible without pretending we fully know another species' Umwelt.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FRAMING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How can an archive make extinction felt as both biological disappearance and cultural amnesia?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DESIGN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Umwelt as memory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Primary frame: bounded sensory-temporal hypothesis space.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Secondary frame: collective memory fracture and ethical remembrance.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Visitors move through Memory Sites, Species Dossier, Polyphony Mixer, and Ethics Console.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The archive is not resurrection; uncertainty remains visible at every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Museum sobriety overall. Awe appears briefly, mainly inside the mixer.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Memory reshaping (foreground): multisensory reminiscence retrains attention on extinct Umwelten; guardrails address collective cognitive impairment, flattening, and misremembering.
Three load-bearing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Species Dossier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Evidence cards · epistemic tiers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Temporal niche · diel / seasonal anchors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Sensory proxies · multisensory reminiscence paths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Extinction mechanism · colonial + ecological chronologies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360° constrained scene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Polyphony Mixer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Seasonal layers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Diel rhythm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Density and synchrony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Audible coexistence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Collapse as retuning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783080"/>
            <a:ext cx="356616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938528"/>
            <a:ext cx="32369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Ethics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2423160"/>
            <a:ext cx="323697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Evidence sorting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Forced tradeoffs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Rule-based outcomes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Sonic finale shifts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Action over nostalgia
Mixer + Console: reminiscence without false 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HERO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Memory reshaping through paired hero dossiers
Mammoth + thylacine dossiers (two deep case studies)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Woolly mammoth — seasonal Umwelt for slow, somatic reminiscence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Tusk isotope trails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Arctic photoperiod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Comparative genomics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Ground-level pacing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Slow seasonal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83080"/>
            <a:ext cx="315468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938528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Thylacine (Tasmanian tiger)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423160"/>
            <a:ext cx="282549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Orbit / diel activity (Pozniak 2018)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POV metaphor via RGC models (Mass &amp; Supin 2020, Interpolated)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Colonial extinction history (Paddle; Sleightholme &amp; Campbell)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Palawa / Country framing (Rimmer; Lehman; Clements; Schlunke)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Ethics Console + reflection log — cognition-friendly branching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783080"/>
            <a:ext cx="3566160" cy="356616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938528"/>
            <a:ext cx="32369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DFD6"/>
                </a:solidFill>
                <a:latin typeface="Helvetica Neue"/>
              </a:rPr>
              <a:t>Memory sites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2423160"/>
            <a:ext cx="3236976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2-5 curated pins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Last ranges and dates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Single-species deep links</a:t>
            </a:r>
          </a:p>
          <a:p>
            <a:pPr>
              <a:spcAft>
                <a:spcPts val="1000"/>
              </a:spcAft>
              <a:defRPr sz="1400">
                <a:solidFill>
                  <a:srgbClr val="E6DFD6"/>
                </a:solidFill>
                <a:latin typeface="Helvetica Neue"/>
              </a:defRPr>
            </a:pPr>
            <a:r>
              <a:t>No global atlas in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BIOLOGICAL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Only traceable evidence enters the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Migration isotopes, morphology as sensory proxy, comparative genomics, historical range data, and acoustic ecology of relatives.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Smell cues remain metaphorical or synesthetic only and are always labeled Speculative.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Every strong line in the UI is tagged: Cited, Modeled, or Speculative.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If the biology can be removed and the piece still works, the project has failed its biodigital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DIGITAL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Expressive, but never unconstrained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Primary image strategy: diffusion plus structural conditioning.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Support layer: procedural shaders for light, fog, atmosphere, and temporal credibility.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A-Frame-first WebXR with desktop fallback and mobile WebAR entry points.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Web Audio DSP ties season, density, and time-of-day to the sonic field.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R and ggplot provide auditable scientific visuals for dossiers and appendix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A-Frame first, Three.js as needed inside the same XR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PHYSICAL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Minimal physical anchor + WebXR entry (Summit build)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3D-printed focal object anchors the body of the extinct species in gallery space.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Mobile WebAR opens dossier content from the physical object.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Safe tactile materials symbolize tundra and steppe without claiming literal reconstruction.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Plants plus soil moisture, light, and temperature sensors drive one live audio bus.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INSTALLATION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Not a simulation of extinct habitat — an index of evidence, uncertainty, and responsibility.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ETHICS AND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Reflection is part of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Digital resurrection is kept distinct from laboratory de-extinction discourse.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Visitors face choices around conservation resources, land-use pressure, and moral hazard.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AI-generated confidence is actively countered through tier labels, provenance, and rule-based consequences.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The project avoids speaking for communities it has not collaborated with.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DESIRED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Move from grief to responsibility, not from grief to spectacle.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BDC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Why this fits Biodesign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Narrative: a clear emotional and spatial journey supported by physical and digital prototypes.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Concept: Umwelt plus temporal niche plus collective memory creates a distinct biodigital proposition.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Context: biodiversity loss, de-extinction ethics, misinformation risk, and sustainable installation logic.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Reflection: transparent iteration, limits, evidence tiers, and expert-reviewable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PRIZE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Primary target: BDC Prize for Biodigital Excellence.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1-MONTH VERTICAL 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Build the hero demo first — memory reshaping in the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9385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Lock evidence cards, dossier fields, multisensory reminiscence beats, memory sites, ethics branches, plain-language / cognitive-access patterns, consultant outreach.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529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Ship a mammoth vertical slice: dossier, polyphonic mixer reminiscence layers, WebXR scene, film-track kickoff.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13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673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Integrate thylacine dossier, Indigenous context UI, ethics fork (Sherkow &amp; Greely), reflection log, WebXR polish — rehearse multisensory pacing + confusion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6492240" cy="7772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A"/>
                </a:solidFill>
                <a:latin typeface="Helvetica Neue"/>
              </a:rP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81728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DFD6"/>
                </a:solidFill>
                <a:latin typeface="Helvetica Neue"/>
              </a:rPr>
              <a:t>Polish, rehearse, finish trailer, finalize appendix citations, harden demo fallback, validate reminiscence overload safeguards.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PARALLEL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The film track starts after Week 2 and must not block the core interaction milestone.
Parallel rule (memory): remix and polyphony remain legible under fatigue — no sentimental erasure of uncertainty.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164592"/>
            <a:ext cx="3136392" cy="6693408"/>
          </a:xfrm>
          <a:prstGeom prst="rect">
            <a:avLst/>
          </a:prstGeom>
          <a:solidFill>
            <a:srgbClr val="1E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A"/>
                </a:solidFill>
                <a:latin typeface="Helvetica Neue"/>
              </a:rPr>
              <a:t>DELIVERABLES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6DFD6"/>
                </a:solidFill>
                <a:latin typeface="Helvetica Neue"/>
              </a:rPr>
              <a:t>What the final package includes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English planning document ready for the repo.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Editable PowerPoint deck in project theme.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GitHub slide README with Office preview link and PDF preview link.</a:t>
            </a:r>
          </a:p>
          <a:p>
            <a:pPr>
              <a:spcAft>
                <a:spcPts val="1000"/>
              </a:spcAft>
              <a:defRPr sz="2000">
                <a:solidFill>
                  <a:srgbClr val="E6DFD6"/>
                </a:solidFill>
                <a:latin typeface="Helvetica Neue"/>
              </a:defRPr>
            </a:pPr>
            <a:r>
              <a:t>A methods appendix culture: citations and limits developed in parallel, not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200400" cy="3291840"/>
          </a:xfrm>
          <a:prstGeom prst="roundRect">
            <a:avLst/>
          </a:prstGeom>
          <a:solidFill>
            <a:srgbClr val="1E1A17"/>
          </a:solidFill>
          <a:ln>
            <a:solidFill>
              <a:srgbClr val="6B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CB89A"/>
                </a:solidFill>
                <a:latin typeface="Helvetica Neue"/>
              </a:rPr>
              <a:t>CLOSING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DFD6"/>
                </a:solidFill>
                <a:latin typeface="Helvetica Neue"/>
              </a:rPr>
              <a:t>What should responsibility sound like after a species has already disappeared?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A8F84"/>
                </a:solidFill>
                <a:latin typeface="Helvetica Neue"/>
              </a:rPr>
              <a:t>Extinction Archive · Biodigital chronobiology · BDC 2026  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Part II — Summit appendix (English)</a:t>
            </a:r>
          </a:p>
          <a:p>
            <a:pPr>
              <a:spcAft>
                <a:spcPts val="300"/>
              </a:spcAft>
              <a:defRPr sz="1400"/>
            </a:pPr>
            <a:r>
              <a:t>Selected slides from BDC_Summit_Extinction_Archive_2026: citations, scene IDs, rubric, methods.</a:t>
            </a:r>
          </a:p>
          <a:p>
            <a:pPr>
              <a:spcAft>
                <a:spcPts val="300"/>
              </a:spcAft>
              <a:defRPr sz="1400"/>
            </a:pPr>
            <a:r>
              <a:t>Part I (previous slides) follows the BDC_Extinction_Archive_EN layout and narrative spine.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Extinction Archive: Umwelt Hypothesis Dossiers</a:t>
            </a:r>
          </a:p>
          <a:p>
            <a:pPr>
              <a:spcAft>
                <a:spcPts val="300"/>
              </a:spcAft>
              <a:defRPr sz="1400"/>
            </a:pPr>
            <a:r>
              <a:t>AI memorial for lost species · sensory time capsule</a:t>
            </a:r>
          </a:p>
          <a:p>
            <a:pPr>
              <a:spcAft>
                <a:spcPts val="300"/>
              </a:spcAft>
              <a:defRPr sz="1400"/>
            </a:pPr>
            <a:r>
              <a:t>Biodesign Challenge 2026 · “Convergent Life”</a:t>
            </a:r>
          </a:p>
          <a:p>
            <a:pPr>
              <a:spcAft>
                <a:spcPts val="300"/>
              </a:spcAft>
              <a:defRPr sz="1400"/>
            </a:pPr>
            <a:r>
              <a:t>Macau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Team &amp; institution</a:t>
            </a:r>
          </a:p>
          <a:p>
            <a:pPr>
              <a:spcAft>
                <a:spcPts val="300"/>
              </a:spcAft>
              <a:defRPr sz="1400"/>
            </a:pPr>
            <a:r>
              <a:t>Institution: Macau University</a:t>
            </a:r>
          </a:p>
          <a:p>
            <a:pPr>
              <a:spcAft>
                <a:spcPts val="300"/>
              </a:spcAft>
              <a:defRPr sz="1400"/>
            </a:pPr>
            <a:r>
              <a:t>Mentor: Atticus SIMS</a:t>
            </a:r>
          </a:p>
          <a:p>
            <a:pPr>
              <a:spcAft>
                <a:spcPts val="300"/>
              </a:spcAft>
              <a:defRPr sz="1400"/>
            </a:pPr>
            <a:r>
              <a:t>Team: GUO XIAO YUE — ID MC569254</a:t>
            </a:r>
          </a:p>
          <a:p>
            <a:pPr>
              <a:spcAft>
                <a:spcPts val="300"/>
              </a:spcAft>
              <a:defRPr sz="1400"/>
            </a:pPr>
            <a:r>
              <a:t>Team: LIU JIA QUN — ID MC569293</a:t>
            </a:r>
          </a:p>
          <a:p>
            <a:pPr>
              <a:spcAft>
                <a:spcPts val="300"/>
              </a:spcAft>
              <a:defRPr sz="1400"/>
            </a:pPr>
            <a:r>
              <a:t>Program: MDes — Digital Art &amp; AI Technology.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Why this title?</a:t>
            </a:r>
          </a:p>
          <a:p>
            <a:pPr>
              <a:spcAft>
                <a:spcPts val="300"/>
              </a:spcAft>
              <a:defRPr sz="1400"/>
            </a:pPr>
            <a:r>
              <a:t>“Umwelt Hypothesis Dossiers” = each species as a **folder of testable claims** (genes, orbits, climate), not a fantasy safari.</a:t>
            </a:r>
          </a:p>
          <a:p>
            <a:pPr>
              <a:spcAft>
                <a:spcPts val="300"/>
              </a:spcAft>
              <a:defRPr sz="1400"/>
            </a:pPr>
            <a:r>
              <a:t>“AI memorial” = generative media **constrained** by literature — grief and wonder without faking science.</a:t>
            </a:r>
          </a:p>
          <a:p>
            <a:pPr>
              <a:spcAft>
                <a:spcPts val="300"/>
              </a:spcAft>
              <a:defRPr sz="1400"/>
            </a:pPr>
            <a:r>
              <a:t>“Sensory time capsule” = we reconstruct **when** they lived (phase, season), not only **what** they looked like.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Core design question</a:t>
            </a:r>
          </a:p>
          <a:p>
            <a:pPr>
              <a:spcAft>
                <a:spcPts val="300"/>
              </a:spcAft>
              <a:defRPr sz="1400"/>
            </a:pPr>
            <a:r>
              <a:t>“If we use **generative AI + WebXR** to **reconstruct** a **temporal phenotype**, can we repair the human gap in **sensing extinction**?”</a:t>
            </a:r>
          </a:p>
          <a:p>
            <a:pPr>
              <a:spcAft>
                <a:spcPts val="300"/>
              </a:spcAft>
              <a:defRPr sz="1400"/>
            </a:pPr>
            <a:r>
              <a:t>Palaeo-chronobiology + morphology (orbit, clock pathways, TRPV3…) = evidence ladder.</a:t>
            </a:r>
          </a:p>
          <a:p>
            <a:pPr>
              <a:spcAft>
                <a:spcPts val="300"/>
              </a:spcAft>
              <a:defRPr sz="1400"/>
            </a:pPr>
            <a:r>
              <a:t>Umwelt = sensory world as **hypothesis**, disclosed layer-by-layer.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Bio × digital quadrants (our mapping)</a:t>
            </a:r>
          </a:p>
          <a:p>
            <a:pPr>
              <a:spcAft>
                <a:spcPts val="300"/>
              </a:spcAft>
              <a:defRPr sz="1400"/>
            </a:pPr>
            <a:r>
              <a:t>**SENSE / VISUALIZE:** photoperiod sliders, orbit-informed POV filters, habitat maps from Zimov et al.</a:t>
            </a:r>
          </a:p>
          <a:p>
            <a:pPr>
              <a:spcAft>
                <a:spcPts val="300"/>
              </a:spcAft>
              <a:defRPr sz="1400"/>
            </a:pPr>
            <a:r>
              <a:t>**OPTIMIZE:** prompt + data rules so generative landscapes respect paleo proxies.</a:t>
            </a:r>
          </a:p>
          <a:p>
            <a:pPr>
              <a:spcAft>
                <a:spcPts val="300"/>
              </a:spcAft>
              <a:defRPr sz="1400"/>
            </a:pPr>
            <a:r>
              <a:t>**SIMULATE:** phase / sonification of “a species day” — rhythmic, not decorative.</a:t>
            </a:r>
          </a:p>
          <a:p>
            <a:pPr>
              <a:spcAft>
                <a:spcPts val="300"/>
              </a:spcAft>
              <a:defRPr sz="1400"/>
            </a:pPr>
            <a:r>
              <a:t>Red-flag: if biology OR code is removed and the piece still “works,” we failed the biodigital brief.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Creative concept — two dossiers only</a:t>
            </a:r>
          </a:p>
          <a:p>
            <a:pPr>
              <a:spcAft>
                <a:spcPts val="300"/>
              </a:spcAft>
              <a:defRPr sz="1400"/>
            </a:pPr>
            <a:r>
              <a:t>**Woolly mammoth:** Arctic circadian genomics (Lynch 2015), reindeer analogy (Lu 2010), mammoth steppe (Zimov 2012), TRPV3 cold (Lynch; Kim preprint optional).</a:t>
            </a:r>
          </a:p>
          <a:p>
            <a:pPr>
              <a:spcAft>
                <a:spcPts val="300"/>
              </a:spcAft>
              <a:defRPr sz="1400"/>
            </a:pPr>
            <a:r>
              <a:t>**Thylacine:** skull / diel activity (Pozniak 2018), RGC metaphor (Mass &amp; Supin 2020), history (Paddle; Sleightholme), sovereignty (Clements + Palawa-led Rimmer, Lehman; Schlunke).</a:t>
            </a:r>
          </a:p>
          <a:p>
            <a:pPr>
              <a:spcAft>
                <a:spcPts val="300"/>
              </a:spcAft>
              <a:defRPr sz="1400"/>
            </a:pPr>
            <a:r>
              <a:t>Journey: discover rhythm → epistemic layers → ethics sliders → reflection log (HTML template in repo).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Scene IDs → citations</a:t>
            </a:r>
          </a:p>
          <a:p>
            <a:pPr>
              <a:spcAft>
                <a:spcPts val="300"/>
              </a:spcAft>
              <a:defRPr sz="1400"/>
            </a:pPr>
            <a:r>
              <a:t>Mammoth path</a:t>
            </a:r>
          </a:p>
          <a:p>
            <a:pPr>
              <a:spcAft>
                <a:spcPts val="300"/>
              </a:spcAft>
              <a:defRPr sz="1400"/>
            </a:pPr>
            <a:r>
              <a:t>Scene_Bio_01 — Lynch (circadian-related genes)</a:t>
            </a:r>
          </a:p>
          <a:p>
            <a:pPr>
              <a:spcAft>
                <a:spcPts val="300"/>
              </a:spcAft>
              <a:defRPr sz="1400"/>
            </a:pPr>
            <a:r>
              <a:t>Scene_Environment_02 — Lu [Interpolated]</a:t>
            </a:r>
          </a:p>
          <a:p>
            <a:pPr>
              <a:spcAft>
                <a:spcPts val="300"/>
              </a:spcAft>
              <a:defRPr sz="1400"/>
            </a:pPr>
            <a:r>
              <a:t>Scene_Landscape_01 — Zimov</a:t>
            </a:r>
          </a:p>
          <a:p>
            <a:pPr>
              <a:spcAft>
                <a:spcPts val="300"/>
              </a:spcAft>
              <a:defRPr sz="1400"/>
            </a:pPr>
            <a:r>
              <a:t>Scene_Sensory_01 — TRPV3 / cold</a:t>
            </a:r>
          </a:p>
          <a:p>
            <a:pPr>
              <a:spcAft>
                <a:spcPts val="300"/>
              </a:spcAft>
              <a:defRPr sz="1400"/>
            </a:pPr>
            <a:r>
              <a:t>Thylacine path</a:t>
            </a:r>
          </a:p>
          <a:p>
            <a:pPr>
              <a:spcAft>
                <a:spcPts val="300"/>
              </a:spcAft>
              <a:defRPr sz="1400"/>
            </a:pPr>
            <a:r>
              <a:t>Scene_Bio_02 — Pozniak / orbit</a:t>
            </a:r>
          </a:p>
          <a:p>
            <a:pPr>
              <a:spcAft>
                <a:spcPts val="300"/>
              </a:spcAft>
              <a:defRPr sz="1400"/>
            </a:pPr>
            <a:r>
              <a:t>Scene_POV_01 — Mass &amp; Supin [Interpolated]</a:t>
            </a:r>
          </a:p>
          <a:p>
            <a:pPr>
              <a:spcAft>
                <a:spcPts val="300"/>
              </a:spcAft>
              <a:defRPr sz="1400"/>
            </a:pPr>
            <a:r>
              <a:t>Scene_Context_01 — Paddle + Sleightholme</a:t>
            </a:r>
          </a:p>
          <a:p>
            <a:pPr>
              <a:spcAft>
                <a:spcPts val="300"/>
              </a:spcAft>
              <a:defRPr sz="1400"/>
            </a:pPr>
            <a:r>
              <a:t>UI_Indigenous_Context → UI_Ethics_Fork → UI_Reflection_Log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Design techniques &amp; stack</a:t>
            </a:r>
          </a:p>
          <a:p>
            <a:pPr>
              <a:spcAft>
                <a:spcPts val="300"/>
              </a:spcAft>
              <a:defRPr sz="1400"/>
            </a:pPr>
            <a:r>
              <a:t>**WebXR:** A-Frame / Three.js; browser-based Summit demo.</a:t>
            </a:r>
          </a:p>
          <a:p>
            <a:pPr>
              <a:spcAft>
                <a:spcPts val="300"/>
              </a:spcAft>
              <a:defRPr sz="1400"/>
            </a:pPr>
            <a:r>
              <a:t>**Generative AI:** 360° / environment art **bounded** by citation-backed parameters (no silent photoreal “truth”).</a:t>
            </a:r>
          </a:p>
          <a:p>
            <a:pPr>
              <a:spcAft>
                <a:spcPts val="300"/>
              </a:spcAft>
              <a:defRPr sz="1400"/>
            </a:pPr>
            <a:r>
              <a:t>**Epistemic UI:** toggles for Cited / Interpolated / Speculative; on-screen (Author, year) tags.</a:t>
            </a:r>
          </a:p>
          <a:p>
            <a:pPr>
              <a:spcAft>
                <a:spcPts val="300"/>
              </a:spcAft>
              <a:defRPr sz="1400"/>
            </a:pPr>
            <a:r>
              <a:t>**Sonification (optional):** tie audio to phase / season from literature.</a:t>
            </a:r>
          </a:p>
          <a:p>
            <a:pPr>
              <a:spcAft>
                <a:spcPts val="300"/>
              </a:spcAft>
              <a:defRPr sz="1400"/>
            </a:pPr>
            <a:r>
              <a:t>**Reflection:** `templates/reflection-log-webxr.html` — keyword → ethics cards (Sherkow &amp; Greely themes).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Ideation method (8 steps)</a:t>
            </a:r>
          </a:p>
          <a:p>
            <a:pPr>
              <a:spcAft>
                <a:spcPts val="300"/>
              </a:spcAft>
              <a:defRPr sz="1400"/>
            </a:pPr>
            <a:r>
              <a:t>1 Map interests &amp; skills · 2 Intersection statements (“code × bio × problem”)</a:t>
            </a:r>
          </a:p>
          <a:p>
            <a:pPr>
              <a:spcAft>
                <a:spcPts val="300"/>
              </a:spcAft>
              <a:defRPr sz="1400"/>
            </a:pPr>
            <a:r>
              <a:t>3 Stress-test vs BDC rubric (Narrative, Concept, Context, Reflection)</a:t>
            </a:r>
          </a:p>
          <a:p>
            <a:pPr>
              <a:spcAft>
                <a:spcPts val="300"/>
              </a:spcAft>
              <a:defRPr sz="1400"/>
            </a:pPr>
            <a:r>
              <a:t>4 Biology sprint per species (30–45 min lit passes)</a:t>
            </a:r>
          </a:p>
          <a:p>
            <a:pPr>
              <a:spcAft>
                <a:spcPts val="300"/>
              </a:spcAft>
              <a:defRPr sz="1400"/>
            </a:pPr>
            <a:r>
              <a:t>5 Bio / digital split + red-flag test</a:t>
            </a:r>
          </a:p>
          <a:p>
            <a:pPr>
              <a:spcAft>
                <a:spcPts val="300"/>
              </a:spcAft>
              <a:defRPr sz="1400"/>
            </a:pPr>
            <a:r>
              <a:t>6 200-word narrative (Problem → Insight → Solution → Impact)</a:t>
            </a:r>
          </a:p>
          <a:p>
            <a:pPr>
              <a:spcAft>
                <a:spcPts val="300"/>
              </a:spcAft>
              <a:defRPr sz="1400"/>
            </a:pPr>
            <a:r>
              <a:t>7 Prototype + deliverable owners · 8 Build sprint: Discovery → Prototype → Integration → Polish</a:t>
            </a:r>
          </a:p>
          <a:p>
            <a:pPr>
              <a:spcAft>
                <a:spcPts val="300"/>
              </a:spcAft>
              <a:defRPr sz="1400"/>
            </a:pPr>
            <a:r>
              <a:t>Guided by `biodesign_cursor_agent.md` + course workbook.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Four-week production spine</a:t>
            </a:r>
          </a:p>
          <a:p>
            <a:pPr>
              <a:spcAft>
                <a:spcPts val="300"/>
              </a:spcAft>
              <a:defRPr sz="1400"/>
            </a:pPr>
            <a:r>
              <a:t>W1 Discovery — literature grid, storyboard ↔ DOI table, WebXR shell.</a:t>
            </a:r>
          </a:p>
          <a:p>
            <a:pPr>
              <a:spcAft>
                <a:spcPts val="300"/>
              </a:spcAft>
              <a:defRPr sz="1400"/>
            </a:pPr>
            <a:r>
              <a:t>W2 Prototype — time scrubber, generative constraint doc, epistemic toggles.</a:t>
            </a:r>
          </a:p>
          <a:p>
            <a:pPr>
              <a:spcAft>
                <a:spcPts val="300"/>
              </a:spcAft>
              <a:defRPr sz="1400"/>
            </a:pPr>
            <a:r>
              <a:t>W3 Integration — sonification, Indigenous + ethics UI, reflection panel.</a:t>
            </a:r>
          </a:p>
          <a:p>
            <a:pPr>
              <a:spcAft>
                <a:spcPts val="300"/>
              </a:spcAft>
              <a:defRPr sz="1400"/>
            </a:pPr>
            <a:r>
              <a:t>W4 Polish — 10′ talk, 5′ Q&amp;A drill, 1–5′ video, deploy, judge cheat sheet.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Context — colonial violence &amp; Country</a:t>
            </a:r>
          </a:p>
          <a:p>
            <a:pPr>
              <a:spcAft>
                <a:spcPts val="300"/>
              </a:spcAft>
              <a:defRPr sz="1400"/>
            </a:pPr>
            <a:r>
              <a:t>Thylacine loss tied to colonial harm to Palawa peoples and lutruwita (Tasmania).</a:t>
            </a:r>
          </a:p>
          <a:p>
            <a:pPr>
              <a:spcAft>
                <a:spcPts val="300"/>
              </a:spcAft>
              <a:defRPr sz="1400"/>
            </a:pPr>
            <a:r>
              <a:t>Sources: Clements (2025); Schlunke (2025) poetry / Palawa names; **Palawa-led** Rimmer (2020), Lehman (2013).</a:t>
            </a:r>
          </a:p>
          <a:p>
            <a:pPr>
              <a:spcAft>
                <a:spcPts val="300"/>
              </a:spcAft>
              <a:defRPr sz="1400"/>
            </a:pPr>
            <a:r>
              <a:t>UI protocol: author positionality; no tourism copy as TEK.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Ethics layer — Sherkow &amp; Greely (2013)</a:t>
            </a:r>
          </a:p>
          <a:p>
            <a:pPr>
              <a:spcAft>
                <a:spcPts val="300"/>
              </a:spcAft>
              <a:defRPr sz="1400"/>
            </a:pPr>
            <a:r>
              <a:t>Sliders: lab de-extinction vs **in situ** conservation funding.</a:t>
            </a:r>
          </a:p>
          <a:p>
            <a:pPr>
              <a:spcAft>
                <a:spcPts val="300"/>
              </a:spcAft>
              <a:defRPr sz="1400"/>
            </a:pPr>
            <a:r>
              <a:t>Legal novelty of revived lineages → liability / ecosystem risk.</a:t>
            </a:r>
          </a:p>
          <a:p>
            <a:pPr>
              <a:spcAft>
                <a:spcPts val="300"/>
              </a:spcAft>
              <a:defRPr sz="1400"/>
            </a:pPr>
            <a:r>
              <a:t>Grounded in Science DOI 10.1126/science.1236946 — not generic sci-fi branches.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Key literature — Mammoth (DOIs)</a:t>
            </a:r>
          </a:p>
          <a:p>
            <a:pPr>
              <a:spcAft>
                <a:spcPts val="300"/>
              </a:spcAft>
              <a:defRPr sz="1400"/>
            </a:pPr>
            <a:r>
              <a:t>M1 Lynch et al., 2015 — 10.1016/j.celrep.2015.06.027</a:t>
            </a:r>
          </a:p>
          <a:p>
            <a:pPr>
              <a:spcAft>
                <a:spcPts val="300"/>
              </a:spcAft>
              <a:defRPr sz="1400"/>
            </a:pPr>
            <a:r>
              <a:t>M2 Lu et al., 2010 — 10.1016/j.cub.2010.01.042</a:t>
            </a:r>
          </a:p>
          <a:p>
            <a:pPr>
              <a:spcAft>
                <a:spcPts val="300"/>
              </a:spcAft>
              <a:defRPr sz="1400"/>
            </a:pPr>
            <a:r>
              <a:t>M3 Zimov et al., 2012 — 10.1016/j.quascirev.2012.08.004</a:t>
            </a:r>
          </a:p>
          <a:p>
            <a:pPr>
              <a:spcAft>
                <a:spcPts val="300"/>
              </a:spcAft>
              <a:defRPr sz="1400"/>
            </a:pPr>
            <a:r>
              <a:t>M4 Kim bioRxiv — 10.1101/151746 (TRPV3 structure; phenotype cite Lynch 2015)</a:t>
            </a:r>
          </a:p>
          <a:p>
            <a:pPr>
              <a:spcAft>
                <a:spcPts val="300"/>
              </a:spcAft>
              <a:defRPr sz="1400"/>
            </a:pPr>
            <a:r>
              <a:t>M5 Sherkow &amp; Greely — 10.1126/science.1236946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Key literature — Thylacine &amp; sovereignty</a:t>
            </a:r>
          </a:p>
          <a:p>
            <a:pPr>
              <a:spcAft>
                <a:spcPts val="300"/>
              </a:spcAft>
              <a:defRPr sz="1400"/>
            </a:pPr>
            <a:r>
              <a:t>T1 Pozniak 2018 — 10.1002/ar.23910</a:t>
            </a:r>
          </a:p>
          <a:p>
            <a:pPr>
              <a:spcAft>
                <a:spcPts val="300"/>
              </a:spcAft>
              <a:defRPr sz="1400"/>
            </a:pPr>
            <a:r>
              <a:t>T2 Mass &amp; Supin 2020 — 10.31857/S0002332920060107</a:t>
            </a:r>
          </a:p>
          <a:p>
            <a:pPr>
              <a:spcAft>
                <a:spcPts val="300"/>
              </a:spcAft>
              <a:defRPr sz="1400"/>
            </a:pPr>
            <a:r>
              <a:t>T3 Paddle 2000 — ISBN 9780521782196</a:t>
            </a:r>
          </a:p>
          <a:p>
            <a:pPr>
              <a:spcAft>
                <a:spcPts val="300"/>
              </a:spcAft>
              <a:defRPr sz="1400"/>
            </a:pPr>
            <a:r>
              <a:t>T4 Sleightholme &amp; Campbell 2016 — 10.1080/00222933.2016.1217037</a:t>
            </a:r>
          </a:p>
          <a:p>
            <a:pPr>
              <a:spcAft>
                <a:spcPts val="300"/>
              </a:spcAft>
              <a:defRPr sz="1400"/>
            </a:pPr>
            <a:r>
              <a:t>T5 Clements 2025 — 10.1177/13534858251272203</a:t>
            </a:r>
          </a:p>
          <a:p>
            <a:pPr>
              <a:spcAft>
                <a:spcPts val="300"/>
              </a:spcAft>
              <a:defRPr sz="1400"/>
            </a:pPr>
            <a:r>
              <a:t>Schlunke 2025 — 10.1017/ext.2025.10008 · Rimmer 2020 Artlink · Lehman 2013 Griffith Review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Rubric self-check</a:t>
            </a:r>
          </a:p>
          <a:p>
            <a:pPr>
              <a:spcAft>
                <a:spcPts val="300"/>
              </a:spcAft>
              <a:defRPr sz="1400"/>
            </a:pPr>
            <a:r>
              <a:t>Narrative: rhythm → loss → fork.</a:t>
            </a:r>
          </a:p>
          <a:p>
            <a:pPr>
              <a:spcAft>
                <a:spcPts val="300"/>
              </a:spcAft>
              <a:defRPr sz="1400"/>
            </a:pPr>
            <a:r>
              <a:t>Concept: **time** as spine; one proxy per scene.</a:t>
            </a:r>
          </a:p>
          <a:p>
            <a:pPr>
              <a:spcAft>
                <a:spcPts val="300"/>
              </a:spcAft>
              <a:defRPr sz="1400"/>
            </a:pPr>
            <a:r>
              <a:t>Context: trade-offs + sovereignty sources.</a:t>
            </a:r>
          </a:p>
          <a:p>
            <a:pPr>
              <a:spcAft>
                <a:spcPts val="300"/>
              </a:spcAft>
              <a:defRPr sz="1400"/>
            </a:pPr>
            <a:r>
              <a:t>Reflection: epistemic UI + user reflection + AI limits.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Repository pointers</a:t>
            </a:r>
          </a:p>
          <a:p>
            <a:pPr>
              <a:spcAft>
                <a:spcPts val="300"/>
              </a:spcAft>
              <a:defRPr sz="1400"/>
            </a:pPr>
            <a:r>
              <a:t>Canonical plan: BDC_2026_Extinction_Archive_Planning_Document.md</a:t>
            </a:r>
          </a:p>
          <a:p>
            <a:pPr>
              <a:spcAft>
                <a:spcPts val="300"/>
              </a:spcAft>
              <a:defRPr sz="1400"/>
            </a:pPr>
            <a:r>
              <a:t>Executive: PROJECT_PLAN.md · Reflection template: templates/reflection-log-webxr.html</a:t>
            </a:r>
          </a:p>
          <a:p>
            <a:pPr>
              <a:spcAft>
                <a:spcPts val="300"/>
              </a:spcAft>
              <a:defRPr sz="1400"/>
            </a:pPr>
            <a:r>
              <a:t>GitHub preview this talk: slides/SUMMIT_DECK_GITHUB_PREVIEW.md (this file is auto-generated).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Part III — Visual deck (BDC_Deck_EN)</a:t>
            </a:r>
          </a:p>
          <a:p>
            <a:pPr>
              <a:spcAft>
                <a:spcPts val="300"/>
              </a:spcAft>
              <a:defRPr sz="1400"/>
            </a:pPr>
            <a:r>
              <a:t>Full-bleed slide graphics from BDC_Deck_EN.pptx (image export pipeline).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100297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Thank you</a:t>
            </a:r>
          </a:p>
          <a:p>
            <a:pPr>
              <a:spcAft>
                <a:spcPts val="300"/>
              </a:spcAft>
              <a:defRPr sz="1400"/>
            </a:pPr>
            <a:r>
              <a:t>Extinction Archive: Umwelt Hypothesis Dossiers</a:t>
            </a:r>
          </a:p>
          <a:p>
            <a:pPr>
              <a:spcAft>
                <a:spcPts val="300"/>
              </a:spcAft>
              <a:defRPr sz="1400"/>
            </a:pPr>
            <a:r>
              <a:t>AI memorial for lost species · Sensory time capsule</a:t>
            </a:r>
          </a:p>
          <a:p>
            <a:pPr>
              <a:spcAft>
                <a:spcPts val="300"/>
              </a:spcAft>
              <a:defRPr sz="1400"/>
            </a:pPr>
            <a:r>
              <a:t>Macau University · Biodesign Challenge 2026 · Biodigital Excellence</a:t>
            </a:r>
          </a:p>
          <a:p>
            <a:pPr>
              <a:spcAft>
                <a:spcPts val="300"/>
              </a:spcAft>
              <a:defRPr sz="1400"/>
            </a:pPr>
            <a:r>
              <a:t>GUO XIAO YUE (MC569254) · LIU JIA QUN (MC569293) · Mentor: Atticus SIMS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