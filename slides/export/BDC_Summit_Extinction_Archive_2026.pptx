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Extinction Archive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Umwelt Hypothesis Dossiers — AI Memorial for Lost Species</a:t>
            </a:r>
          </a:p>
          <a:p>
            <a:r>
              <a:t>A Sensory Time Capsule · Biodesign Challenge 2026 · “Convergent Life”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Biodesign Challenge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Premier student competition at the intersection of biotechnology, art, and design.</a:t>
            </a:r>
          </a:p>
          <a:p>
            <a:pPr>
              <a:defRPr sz="1700"/>
            </a:pPr>
            <a:r>
              <a:t>2026 gallery: “Convergent Life.” Target prizes: Biodigital Excellence; Narrative, Context, Reflection.</a:t>
            </a:r>
          </a:p>
          <a:p>
            <a:pPr>
              <a:defRPr sz="1700"/>
            </a:pPr>
            <a:r>
              <a:t>No single mandatory theme — our classroom advances chronobiology + extinction + digital memorial.</a:t>
            </a:r>
          </a:p>
          <a:p>
            <a:pPr>
              <a:defRPr sz="1700"/>
            </a:pPr>
            <a:r>
              <a:t>Full criteria: biodesignchallenge.org/judging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program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Team: 2 members — Experience Lead (narrative, ethics, science translation) + Tech/AI Lead (WebXR, generative env, epistemic UI).</a:t>
            </a:r>
          </a:p>
          <a:p>
            <a:pPr>
              <a:defRPr sz="1700"/>
            </a:pPr>
            <a:r>
              <a:t>Program: MDes — Digital Art &amp; AI Technology.</a:t>
            </a:r>
          </a:p>
          <a:p>
            <a:pPr>
              <a:defRPr sz="1700"/>
            </a:pPr>
            <a:r>
              <a:t>Build scope: Web-first memorial; minimal physical anchor + QR (content over hardware).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design into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Extinction deletes more than DNA — it deletes a temporal niche: when a species foraged, migrated, synchronized with light and season.</a:t>
            </a:r>
          </a:p>
          <a:p>
            <a:pPr>
              <a:defRPr sz="1700"/>
            </a:pPr>
            <a:r>
              <a:t>Public memory often reduces loss to images and icons, not lived time.</a:t>
            </a:r>
          </a:p>
          <a:p>
            <a:pPr>
              <a:defRPr sz="1700"/>
            </a:pPr>
            <a:r>
              <a:t>We ask: can biodigital design help humans feel that loss of rhythm — and face de-extinction ethics honestly?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Insight: Palaeo-chronobiology × temporal niche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Clock biology, photoperiod, and morphological proxies (orbit, TRPV3…) constrain how we infer “a day / a year” for extinct taxa.</a:t>
            </a:r>
          </a:p>
          <a:p>
            <a:pPr>
              <a:defRPr sz="1700"/>
            </a:pPr>
            <a:r>
              <a:t>Generative AI + WebXR visualize those constraints — or violate them on purpose, flagged through an epistemic UI.</a:t>
            </a:r>
          </a:p>
          <a:p>
            <a:pPr>
              <a:defRPr sz="1700"/>
            </a:pPr>
            <a:r>
              <a:t>Umwelt = sensory world; our dossiers treat sight, sound, thermosensation, and phase as hypothesis, not spectacle.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concept: Hypothesis dossiers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Two deep case studies only: Woolly mammoth (Arctic rhythm, mammoth steppe) + Thylacine (crepuscular vision, colonial context).</a:t>
            </a:r>
          </a:p>
          <a:p>
            <a:pPr>
              <a:defRPr sz="1700"/>
            </a:pPr>
            <a:r>
              <a:t>Each scene maps to a citation slot (Scene_Bio_01 … UI_Reflection_Log).</a:t>
            </a:r>
          </a:p>
          <a:p>
            <a:pPr>
              <a:defRPr sz="1700"/>
            </a:pPr>
            <a:r>
              <a:t>User journey: discover rhythm → feel uncertainty → ethical fork → reflection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species — two dossiers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 sz="1400"/>
            </a:pPr>
            <a:r>
              <a:t>Species A: Woolly mammoth</a:t>
            </a:r>
          </a:p>
          <a:p>
            <a:pPr>
              <a:defRPr sz="1500"/>
            </a:pPr>
            <a:r>
              <a:t>Circadian-related genomic contrasts (Lynch et al., 2015).</a:t>
            </a:r>
          </a:p>
          <a:p>
            <a:pPr>
              <a:defRPr sz="1500"/>
            </a:pPr>
            <a:r>
              <a:t>Polar photoperiod analogy — reindeer clock attenuation (Lu et al., 2010) [Interpolated].</a:t>
            </a:r>
          </a:p>
          <a:p>
            <a:pPr>
              <a:defRPr sz="1500"/>
            </a:pPr>
            <a:r>
              <a:t>Mammoth steppe productivity (Zimov et al., 2012).</a:t>
            </a:r>
          </a:p>
          <a:p>
            <a:pPr>
              <a:defRPr sz="1500"/>
            </a:pPr>
            <a:r>
              <a:t>Cold / TRPV3 — Lynch (2015) primary; Kim bioRxiv optional.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 sz="1400"/>
            </a:pPr>
            <a:r>
              <a:t>Species B: Thylacine</a:t>
            </a:r>
          </a:p>
          <a:p>
            <a:pPr>
              <a:defRPr sz="1500"/>
            </a:pPr>
            <a:r>
              <a:t>Orbit → diel activity (Pozniak et al., 2018).</a:t>
            </a:r>
          </a:p>
          <a:p>
            <a:pPr>
              <a:defRPr sz="1500"/>
            </a:pPr>
            <a:r>
              <a:t>POV metaphor from RGC topography methods (Mass &amp; Supin, 2020) [Interpolated].</a:t>
            </a:r>
          </a:p>
          <a:p>
            <a:pPr>
              <a:defRPr sz="1500"/>
            </a:pPr>
            <a:r>
              <a:t>History &amp; extinction drivers (Paddle, 2000; Sleightholme &amp; Campbell, 2016).</a:t>
            </a:r>
          </a:p>
          <a:p>
            <a:pPr>
              <a:defRPr sz="1500"/>
            </a:pPr>
            <a:r>
              <a:t>Colonial violence, Country, sovereignty (Clements 2025 + Palawa-led: Rimmer, Lehman; Schlunke 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 + digital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Biology as constraint system: every visual beat ties to literature or is labeled Interpolated / Speculative.</a:t>
            </a:r>
          </a:p>
          <a:p>
            <a:pPr>
              <a:defRPr sz="1700"/>
            </a:pPr>
            <a:r>
              <a:t>Digital: A-Frame / Three.js WebXR; generative landscapes bounded by paleo proxies; optional sonification of phase.</a:t>
            </a:r>
          </a:p>
          <a:p>
            <a:pPr>
              <a:defRPr sz="1700"/>
            </a:pPr>
            <a:r>
              <a:t>No wet-lab demo — stewardship of extant biodiversity is the moral horizon.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architecture (scene 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Mammoth: Scene_Bio_01 → Scene_Environment_02 → Scene_Landscape_01 → Scene_Sensory_01.</a:t>
            </a:r>
          </a:p>
          <a:p>
            <a:pPr>
              <a:defRPr sz="1700"/>
            </a:pPr>
            <a:r>
              <a:t>Thylacine: Scene_Bio_02 → Scene_POV_01 → Scene_Context_01.</a:t>
            </a:r>
          </a:p>
          <a:p>
            <a:pPr>
              <a:defRPr sz="1700"/>
            </a:pPr>
            <a:r>
              <a:t>Shared: UI_Indigenous_Context → UI_Ethics_Fork → UI_Reflection_Log.</a:t>
            </a:r>
          </a:p>
          <a:p>
            <a:pPr>
              <a:defRPr sz="1700"/>
            </a:pPr>
            <a:r>
              <a:t>On-screen short tags (Author, year) mirror the dossier appendix.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Epistemic UI — three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Cited — direct claims from peer-reviewed (or named) sources.</a:t>
            </a:r>
          </a:p>
          <a:p>
            <a:pPr>
              <a:defRPr sz="1700"/>
            </a:pPr>
            <a:r>
              <a:t>Interpolated — analogical models (e.g. reindeer clocks; dolphin RGC maps applied as metaphor).</a:t>
            </a:r>
          </a:p>
          <a:p>
            <a:pPr>
              <a:defRPr sz="1700"/>
            </a:pPr>
            <a:r>
              <a:t>Speculative / generative — always disclosed; never silent AI “realism.”</a:t>
            </a:r>
          </a:p>
          <a:p>
            <a:pPr>
              <a:defRPr sz="1700"/>
            </a:pPr>
            <a:r>
              <a:t>Judges can pause any scene and read the proxy column.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Ethics: resource allocation &amp; law of de-extinction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UI sliders informed by Sherkow &amp; Greely (2013, Science): funding vs. field conservation; legal status; ecosystem risk.</a:t>
            </a:r>
          </a:p>
          <a:p>
            <a:pPr>
              <a:defRPr sz="1700"/>
            </a:pPr>
            <a:r>
              <a:t>Not sci-fi branching — structured trade-offs grounded in published argument.</a:t>
            </a:r>
          </a:p>
          <a:p>
            <a:pPr>
              <a:defRPr sz="1700"/>
            </a:pPr>
            <a:r>
              <a:t>Bridge to Indigenous governance: revival discourse vs. obligations to Country (Palawa-first citations).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Context: colonial violence &amp; ecological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Thylacine extinction is entangled with violence against Palawa peoples and Country (lutruwita / Tasmania).</a:t>
            </a:r>
          </a:p>
          <a:p>
            <a:pPr>
              <a:defRPr sz="1700"/>
            </a:pPr>
            <a:r>
              <a:t>UI copy pairs Clements (2025) with Palawa-led voices — Rimmer (2020) on palawa kani / museums; Lehman (2013) Tasmanian Gothic.</a:t>
            </a:r>
          </a:p>
          <a:p>
            <a:pPr>
              <a:defRPr sz="1700"/>
            </a:pPr>
            <a:r>
              <a:t>Schlunke (2025) — poetry, multiple Palawa names for thylacine, colonial temporality.</a:t>
            </a:r>
          </a:p>
          <a:p>
            <a:pPr>
              <a:defRPr sz="1700"/>
            </a:pPr>
            <a:r>
              <a:t>Protocol: label author positionality; never substitute tourism copy for TEK.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 process (8 steps we follow)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1 Map skills · 2 Intersection statements · 3 Rubric stress-test · 4 Biology sprints</a:t>
            </a:r>
          </a:p>
          <a:p>
            <a:pPr>
              <a:defRPr sz="1700"/>
            </a:pPr>
            <a:r>
              <a:t>5 Bio/digital split · 6 Narrative draft · 7 Prototype + deliverables · 8 Build + polish</a:t>
            </a:r>
          </a:p>
          <a:p>
            <a:pPr>
              <a:defRPr sz="1700"/>
            </a:pPr>
            <a:r>
              <a:t>Cursor agent context + course workbook aligned to BDC judging dimensions.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process — four-week spine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Week 1 Discovery — literature grid + storyboard; WebXR shell.</a:t>
            </a:r>
          </a:p>
          <a:p>
            <a:pPr>
              <a:defRPr sz="1700"/>
            </a:pPr>
            <a:r>
              <a:t>Week 2 Prototype — time scrubber; generative constraints; epistemic toggles.</a:t>
            </a:r>
          </a:p>
          <a:p>
            <a:pPr>
              <a:defRPr sz="1700"/>
            </a:pPr>
            <a:r>
              <a:t>Week 3 Integration — sonification; ethics + Indigenous UI; reflection template.</a:t>
            </a:r>
          </a:p>
          <a:p>
            <a:pPr>
              <a:defRPr sz="1700"/>
            </a:pPr>
            <a:r>
              <a:t>Week 4 Polish — rehearsal, 1–5 min creative video, deploy, cheat sheet for judges.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— Mammoth (M1–M5)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M1 Lynch et al., 2015 Cell Reports — DOI 10.1016/j.celrep.2015.06.027</a:t>
            </a:r>
          </a:p>
          <a:p>
            <a:pPr>
              <a:defRPr sz="1700"/>
            </a:pPr>
            <a:r>
              <a:t>M2 Lu et al., 2010 Current Biology — reindeer DOI 10.1016/j.cub.2010.01.042</a:t>
            </a:r>
          </a:p>
          <a:p>
            <a:pPr>
              <a:defRPr sz="1700"/>
            </a:pPr>
            <a:r>
              <a:t>M3 Zimov et al., 2012 Quaternary Science Reviews — DOI 10.1016/j.quascirev.2012.08.004</a:t>
            </a:r>
          </a:p>
          <a:p>
            <a:pPr>
              <a:defRPr sz="1700"/>
            </a:pPr>
            <a:r>
              <a:t>M4 Kim et al., 2017 bioRxiv TRPV3 — 10.1101/151746 (preprint; phenotype anchored to Lynch 2015)</a:t>
            </a:r>
          </a:p>
          <a:p>
            <a:pPr>
              <a:defRPr sz="1700"/>
            </a:pPr>
            <a:r>
              <a:t>M5 Sherkow &amp; Greely, 2013 Science — DOI 10.1126/science.1236946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— Thylacine &amp; sovereignty (T1–T5 + Palawa)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T1 Pozniak et al., 2018 — DOI 10.1002/ar.23910</a:t>
            </a:r>
          </a:p>
          <a:p>
            <a:pPr>
              <a:defRPr sz="1700"/>
            </a:pPr>
            <a:r>
              <a:t>T2 Mass &amp; Supin, 2020 — DOI 10.31857/S0002332920060107 (RGC methods)</a:t>
            </a:r>
          </a:p>
          <a:p>
            <a:pPr>
              <a:defRPr sz="1700"/>
            </a:pPr>
            <a:r>
              <a:t>T3 Paddle, 2000 — Cambridge ISBN 9780521782196</a:t>
            </a:r>
          </a:p>
          <a:p>
            <a:pPr>
              <a:defRPr sz="1700"/>
            </a:pPr>
            <a:r>
              <a:t>T4 Sleightholme &amp; Campbell, 2016 — DOI 10.1080/00222933.2016.1217037</a:t>
            </a:r>
          </a:p>
          <a:p>
            <a:pPr>
              <a:defRPr sz="1700"/>
            </a:pPr>
            <a:r>
              <a:t>T5 Clements, 2025 — DOI 10.1177/13534858251272203 (verify access)</a:t>
            </a:r>
          </a:p>
          <a:p>
            <a:pPr>
              <a:defRPr sz="1700"/>
            </a:pPr>
            <a:r>
              <a:t>Palawa: Rimmer 2020 Artlink; Lehman 2013 Griffith Review; Schlunke 2025 DOI 10.1017/ext.2025.10008 (PMC12722039)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BDC rubric — how we score ourselves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Narrative (3/3): beat structure discover rhythm → loss → ethical fork.</a:t>
            </a:r>
          </a:p>
          <a:p>
            <a:pPr>
              <a:defRPr sz="1700"/>
            </a:pPr>
            <a:r>
              <a:t>Concept (3/3): time as spine; every scene → one biological proxy.</a:t>
            </a:r>
          </a:p>
          <a:p>
            <a:pPr>
              <a:defRPr sz="1700"/>
            </a:pPr>
            <a:r>
              <a:t>Context (2→3): de-extinction trade-offs + Palawa sovereignty sources expanded.</a:t>
            </a:r>
          </a:p>
          <a:p>
            <a:pPr>
              <a:defRPr sz="1700"/>
            </a:pPr>
            <a:r>
              <a:t>Reflection (2.5→3): interactive epistemic UI + user reflection + AI limits disclosed.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checklist (BDC finalist)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10-minute oral + 5-minute Q&amp;A — this deck supports the talk track.</a:t>
            </a:r>
          </a:p>
          <a:p>
            <a:pPr>
              <a:defRPr sz="1700"/>
            </a:pPr>
            <a:r>
              <a:t>Visual renderings &amp; WebXR build + scene→citation strip.</a:t>
            </a:r>
          </a:p>
          <a:p>
            <a:pPr>
              <a:defRPr sz="1700"/>
            </a:pPr>
            <a:r>
              <a:t>Physical model: encouraged — we ship minimal tactile anchor + QR.</a:t>
            </a:r>
          </a:p>
          <a:p>
            <a:pPr>
              <a:defRPr sz="1700"/>
            </a:pPr>
            <a:r>
              <a:t>1–5 minute creative video (trailer, not talk recording).</a:t>
            </a:r>
          </a:p>
          <a:p>
            <a:pPr>
              <a:defRPr sz="1700"/>
            </a:pPr>
            <a:r>
              <a:t>Slides uploaded to shared Drive; optional site @biodesigned.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&amp;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templates/reflection-log-webxr.html — heuristic match to Sherkow/Greely themes + sovereignty keywords.</a:t>
            </a:r>
          </a:p>
          <a:p>
            <a:pPr>
              <a:defRPr sz="1700"/>
            </a:pPr>
            <a:r>
              <a:t>Full dossier: BDC_2026_Extinction_Archive_Planning_Document.md + PROJECT_PLAN.md in repo.</a:t>
            </a:r>
          </a:p>
          <a:p>
            <a:pPr>
              <a:defRPr sz="1700"/>
            </a:pPr>
            <a:r>
              <a:t>Next: bind all Scene_* IDs in production WebXR; complete unchecked literature PDF passes.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Extinction Archive — Umwelt Hypothesis Dossiers</a:t>
            </a:r>
          </a:p>
          <a:p>
            <a:r>
              <a:t>Questions? · biodesignchallenge.org · Biodigital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