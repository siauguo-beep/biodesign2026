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AFCFE"/>
            </a:gs>
            <a:gs pos="40000">
              <a:srgbClr val="F1F5F8"/>
            </a:gs>
            <a:gs pos="100000">
              <a:srgbClr val="E2EBF1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Extinction Archive: Umwelt Hypothesis Dossiers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memorial for lost species · sensory time capsule</a:t>
            </a:r>
          </a:p>
          <a:p>
            <a:r>
              <a:t>Biodesign Challenge 2026 · “Convergent Life”</a:t>
            </a:r>
          </a:p>
          <a:p>
            <a:r>
              <a:t>Macau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institution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Institution: Macau University</a:t>
            </a:r>
          </a:p>
          <a:p>
            <a:pPr>
              <a:defRPr sz="2000"/>
            </a:pPr>
            <a:r>
              <a:t>Mentor: Atticus SIMS</a:t>
            </a:r>
          </a:p>
          <a:p>
            <a:pPr>
              <a:defRPr sz="2000"/>
            </a:pPr>
            <a:r>
              <a:t>Team: GUO XIAO YUE — ID MC569254</a:t>
            </a:r>
          </a:p>
          <a:p>
            <a:pPr>
              <a:defRPr sz="2000"/>
            </a:pPr>
            <a:r>
              <a:t>Team: LIU JIA QUN — ID MC569293</a:t>
            </a:r>
          </a:p>
          <a:p>
            <a:pPr>
              <a:defRPr sz="2000"/>
            </a:pPr>
            <a:r>
              <a:t>Program: MDes — Digital Art &amp; AI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title?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“Umwelt Hypothesis Dossiers” = each species as a **folder of testable claims** (genes, orbits, climate), not a fantasy safari.</a:t>
            </a:r>
          </a:p>
          <a:p>
            <a:pPr>
              <a:defRPr sz="1700"/>
            </a:pPr>
            <a:r>
              <a:t>“AI memorial” = generative media **constrained** by literature — grief and wonder without faking science.</a:t>
            </a:r>
          </a:p>
          <a:p>
            <a:pPr>
              <a:defRPr sz="1700"/>
            </a:pPr>
            <a:r>
              <a:t>“Sensory time capsule” = we reconstruct **when** they lived (phase, season), not only **what** they looked 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Biodesign Challenge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Premier student competition: biotechnology × art × design.</a:t>
            </a:r>
          </a:p>
          <a:p>
            <a:pPr>
              <a:defRPr sz="1700"/>
            </a:pPr>
            <a:r>
              <a:t>2026 gallery: “Convergent Life.” Targets: **Biodigital Excellence**; Narrative, Context, Reflection.</a:t>
            </a:r>
          </a:p>
          <a:p>
            <a:pPr>
              <a:defRPr sz="1700"/>
            </a:pPr>
            <a:r>
              <a:t>Judging: biodesignchallenge.org/judging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build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Experience lead: narrative, ethics, palaeo-chronobiology translation.</a:t>
            </a:r>
          </a:p>
          <a:p>
            <a:pPr>
              <a:defRPr sz="1700"/>
            </a:pPr>
            <a:r>
              <a:t>Tech / AI lead: WebXR (A-Frame / Three.js), generative environments, epistemic UI.</a:t>
            </a:r>
          </a:p>
          <a:p>
            <a:pPr>
              <a:defRPr sz="1700"/>
            </a:pPr>
            <a:r>
              <a:t>Strategy: 重内容、轻装置 — Web-first; minimal tactile anchor + QR.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→ provocation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Extinction erases **temporal niches** (daily / seasonal rhythms), not only DNA.</a:t>
            </a:r>
          </a:p>
          <a:p>
            <a:pPr>
              <a:defRPr sz="1700"/>
            </a:pPr>
            <a:r>
              <a:t>Public memory = flat images; we lack **felt time** of another species’ world.</a:t>
            </a:r>
          </a:p>
          <a:p>
            <a:pPr>
              <a:defRPr sz="1700"/>
            </a:pPr>
            <a:r>
              <a:t>Provocation: can biodigital design surface that loss and force honest **de-extinction** debate?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design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“If we use **generative AI + WebXR** to **reconstruct** a **temporal phenotype**, can we repair the human gap in **sensing extinction**?”</a:t>
            </a:r>
          </a:p>
          <a:p>
            <a:pPr>
              <a:defRPr sz="1700"/>
            </a:pPr>
            <a:r>
              <a:t>Palaeo-chronobiology + morphology (orbit, clock pathways, TRPV3…) = evidence ladder.</a:t>
            </a:r>
          </a:p>
          <a:p>
            <a:pPr>
              <a:defRPr sz="1700"/>
            </a:pPr>
            <a:r>
              <a:t>Umwelt = sensory world as **hypothesis**, disclosed layer-by-layer.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 × digital quadrants (our mapping)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**SENSE / VISUALIZE:** photoperiod sliders, orbit-informed POV filters, habitat maps from Zimov et al.</a:t>
            </a:r>
          </a:p>
          <a:p>
            <a:pPr>
              <a:defRPr sz="1700"/>
            </a:pPr>
            <a:r>
              <a:t>**OPTIMIZE:** prompt + data rules so generative landscapes respect paleo proxies.</a:t>
            </a:r>
          </a:p>
          <a:p>
            <a:pPr>
              <a:defRPr sz="1700"/>
            </a:pPr>
            <a:r>
              <a:t>**SIMULATE:** phase / sonification of “a species day” — rhythmic, not decorative.</a:t>
            </a:r>
          </a:p>
          <a:p>
            <a:pPr>
              <a:defRPr sz="1700"/>
            </a:pPr>
            <a:r>
              <a:t>Red-flag: if biology OR code is removed and the piece still “works,” we failed the biodigital brief.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Creative concept — two dossiers only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**Woolly mammoth:** Arctic circadian genomics (Lynch 2015), reindeer analogy (Lu 2010), mammoth steppe (Zimov 2012), TRPV3 cold (Lynch; Kim preprint optional).</a:t>
            </a:r>
          </a:p>
          <a:p>
            <a:pPr>
              <a:defRPr sz="1700"/>
            </a:pPr>
            <a:r>
              <a:t>**Thylacine:** skull / diel activity (Pozniak 2018), RGC metaphor (Mass &amp; Supin 2020), history (Paddle; Sleightholme), sovereignty (Clements + Palawa-led Rimmer, Lehman; Schlunke).</a:t>
            </a:r>
          </a:p>
          <a:p>
            <a:pPr>
              <a:defRPr sz="1700"/>
            </a:pPr>
            <a:r>
              <a:t>Journey: discover rhythm → epistemic layers → ethics sliders → reflection log (HTML template in repo).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Scene IDs →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b="1" sz="1400"/>
            </a:pPr>
            <a:r>
              <a:t>Mammoth path</a:t>
            </a:r>
          </a:p>
          <a:p>
            <a:pPr>
              <a:defRPr sz="1500"/>
            </a:pPr>
            <a:r>
              <a:t>Scene_Bio_01 — Lynch (circadian-related genes)</a:t>
            </a:r>
          </a:p>
          <a:p>
            <a:pPr>
              <a:defRPr sz="1500"/>
            </a:pPr>
            <a:r>
              <a:t>Scene_Environment_02 — Lu [Interpolated]</a:t>
            </a:r>
          </a:p>
          <a:p>
            <a:pPr>
              <a:defRPr sz="1500"/>
            </a:pPr>
            <a:r>
              <a:t>Scene_Landscape_01 — Zimov</a:t>
            </a:r>
          </a:p>
          <a:p>
            <a:pPr>
              <a:defRPr sz="1500"/>
            </a:pPr>
            <a:r>
              <a:t>Scene_Sensory_01 — TRPV3 / cold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b="1" sz="1400"/>
            </a:pPr>
            <a:r>
              <a:t>Thylacine path</a:t>
            </a:r>
          </a:p>
          <a:p>
            <a:pPr>
              <a:defRPr sz="1500"/>
            </a:pPr>
            <a:r>
              <a:t>Scene_Bio_02 — Pozniak / orbit</a:t>
            </a:r>
          </a:p>
          <a:p>
            <a:pPr>
              <a:defRPr sz="1500"/>
            </a:pPr>
            <a:r>
              <a:t>Scene_POV_01 — Mass &amp; Supin [Interpolated]</a:t>
            </a:r>
          </a:p>
          <a:p>
            <a:pPr>
              <a:defRPr sz="1500"/>
            </a:pPr>
            <a:r>
              <a:t>Scene_Context_01 — Paddle + Sleightholme</a:t>
            </a:r>
          </a:p>
          <a:p>
            <a:pPr>
              <a:defRPr sz="1500"/>
            </a:pPr>
            <a:r>
              <a:t>UI_Indigenous_Context → UI_Ethics_Fork → UI_Reflection_Log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techniques &amp;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**WebXR:** A-Frame / Three.js; browser-based Summit demo.</a:t>
            </a:r>
          </a:p>
          <a:p>
            <a:pPr>
              <a:defRPr sz="1700"/>
            </a:pPr>
            <a:r>
              <a:t>**Generative AI:** 360° / environment art **bounded** by citation-backed parameters (no silent photoreal “truth”).</a:t>
            </a:r>
          </a:p>
          <a:p>
            <a:pPr>
              <a:defRPr sz="1700"/>
            </a:pPr>
            <a:r>
              <a:t>**Epistemic UI:** toggles for Cited / Interpolated / Speculative; on-screen (Author, year) tags.</a:t>
            </a:r>
          </a:p>
          <a:p>
            <a:pPr>
              <a:defRPr sz="1700"/>
            </a:pPr>
            <a:r>
              <a:t>**Sonification (optional):** tie audio to phase / season from literature.</a:t>
            </a:r>
          </a:p>
          <a:p>
            <a:pPr>
              <a:defRPr sz="1700"/>
            </a:pPr>
            <a:r>
              <a:t>**Reflection:** `templates/reflection-log-webxr.html` — keyword → ethics cards (Sherkow &amp; Greely themes).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 method (8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1 Map interests &amp; skills · 2 Intersection statements (“code × bio × problem”)</a:t>
            </a:r>
          </a:p>
          <a:p>
            <a:pPr>
              <a:defRPr sz="1700"/>
            </a:pPr>
            <a:r>
              <a:t>3 Stress-test vs BDC rubric (Narrative, Concept, Context, Reflection)</a:t>
            </a:r>
          </a:p>
          <a:p>
            <a:pPr>
              <a:defRPr sz="1700"/>
            </a:pPr>
            <a:r>
              <a:t>4 Biology sprint per species (30–45 min lit passes)</a:t>
            </a:r>
          </a:p>
          <a:p>
            <a:pPr>
              <a:defRPr sz="1700"/>
            </a:pPr>
            <a:r>
              <a:t>5 Bio / digital split + red-flag test</a:t>
            </a:r>
          </a:p>
          <a:p>
            <a:pPr>
              <a:defRPr sz="1700"/>
            </a:pPr>
            <a:r>
              <a:t>6 200-word narrative (Problem → Insight → Solution → Impact)</a:t>
            </a:r>
          </a:p>
          <a:p>
            <a:pPr>
              <a:defRPr sz="1700"/>
            </a:pPr>
            <a:r>
              <a:t>7 Prototype + deliverable owners · 8 Build sprint: Discovery → Prototype → Integration → Polish</a:t>
            </a:r>
          </a:p>
          <a:p>
            <a:pPr>
              <a:defRPr sz="1700"/>
            </a:pPr>
            <a:r>
              <a:t>Guided by `biodesign_cursor_agent.md` + course workbook.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Four-week production spine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W1 Discovery — literature grid, storyboard ↔ DOI table, WebXR shell.</a:t>
            </a:r>
          </a:p>
          <a:p>
            <a:pPr>
              <a:defRPr sz="1700"/>
            </a:pPr>
            <a:r>
              <a:t>W2 Prototype — time scrubber, generative constraint doc, epistemic toggles.</a:t>
            </a:r>
          </a:p>
          <a:p>
            <a:pPr>
              <a:defRPr sz="1700"/>
            </a:pPr>
            <a:r>
              <a:t>W3 Integration — sonification, Indigenous + ethics UI, reflection panel.</a:t>
            </a:r>
          </a:p>
          <a:p>
            <a:pPr>
              <a:defRPr sz="1700"/>
            </a:pPr>
            <a:r>
              <a:t>W4 Polish — 10′ talk, 5′ Q&amp;A drill, 1–5′ video, deploy, judge cheat sheet.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— colonial violence &amp;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Thylacine loss tied to colonial harm to Palawa peoples and lutruwita (Tasmania).</a:t>
            </a:r>
          </a:p>
          <a:p>
            <a:pPr>
              <a:defRPr sz="1700"/>
            </a:pPr>
            <a:r>
              <a:t>Sources: Clements (2025); Schlunke (2025) poetry / Palawa names; **Palawa-led** Rimmer (2020), Lehman (2013).</a:t>
            </a:r>
          </a:p>
          <a:p>
            <a:pPr>
              <a:defRPr sz="1700"/>
            </a:pPr>
            <a:r>
              <a:t>UI protocol: author positionality; no tourism copy as TEK.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layer — Sherkow &amp; Greely (2013)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Sliders: lab de-extinction vs **in situ** conservation funding.</a:t>
            </a:r>
          </a:p>
          <a:p>
            <a:pPr>
              <a:defRPr sz="1700"/>
            </a:pPr>
            <a:r>
              <a:t>Legal novelty of revived lineages → liability / ecosystem risk.</a:t>
            </a:r>
          </a:p>
          <a:p>
            <a:pPr>
              <a:defRPr sz="1700"/>
            </a:pPr>
            <a:r>
              <a:t>Grounded in Science DOI 10.1126/science.1236946 — not generic sci-fi branches.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— Mammoth (DOIs)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M1 Lynch et al., 2015 — 10.1016/j.celrep.2015.06.027</a:t>
            </a:r>
          </a:p>
          <a:p>
            <a:pPr>
              <a:defRPr sz="1700"/>
            </a:pPr>
            <a:r>
              <a:t>M2 Lu et al., 2010 — 10.1016/j.cub.2010.01.042</a:t>
            </a:r>
          </a:p>
          <a:p>
            <a:pPr>
              <a:defRPr sz="1700"/>
            </a:pPr>
            <a:r>
              <a:t>M3 Zimov et al., 2012 — 10.1016/j.quascirev.2012.08.004</a:t>
            </a:r>
          </a:p>
          <a:p>
            <a:pPr>
              <a:defRPr sz="1700"/>
            </a:pPr>
            <a:r>
              <a:t>M4 Kim bioRxiv — 10.1101/151746 (TRPV3 structure; phenotype cite Lynch 2015)</a:t>
            </a:r>
          </a:p>
          <a:p>
            <a:pPr>
              <a:defRPr sz="1700"/>
            </a:pPr>
            <a:r>
              <a:t>M5 Sherkow &amp; Greely — 10.1126/science.1236946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literature — Thylacine &amp; sovereignty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T1 Pozniak 2018 — 10.1002/ar.23910</a:t>
            </a:r>
          </a:p>
          <a:p>
            <a:pPr>
              <a:defRPr sz="1700"/>
            </a:pPr>
            <a:r>
              <a:t>T2 Mass &amp; Supin 2020 — 10.31857/S0002332920060107</a:t>
            </a:r>
          </a:p>
          <a:p>
            <a:pPr>
              <a:defRPr sz="1700"/>
            </a:pPr>
            <a:r>
              <a:t>T3 Paddle 2000 — ISBN 9780521782196</a:t>
            </a:r>
          </a:p>
          <a:p>
            <a:pPr>
              <a:defRPr sz="1700"/>
            </a:pPr>
            <a:r>
              <a:t>T4 Sleightholme &amp; Campbell 2016 — 10.1080/00222933.2016.1217037</a:t>
            </a:r>
          </a:p>
          <a:p>
            <a:pPr>
              <a:defRPr sz="1700"/>
            </a:pPr>
            <a:r>
              <a:t>T5 Clements 2025 — 10.1177/13534858251272203</a:t>
            </a:r>
          </a:p>
          <a:p>
            <a:pPr>
              <a:defRPr sz="1700"/>
            </a:pPr>
            <a:r>
              <a:t>Schlunke 2025 — 10.1017/ext.2025.10008 · Rimmer 2020 Artlink · Lehman 2013 Griffith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Rubric self-check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Narrative: rhythm → loss → fork.</a:t>
            </a:r>
          </a:p>
          <a:p>
            <a:pPr>
              <a:defRPr sz="1700"/>
            </a:pPr>
            <a:r>
              <a:t>Concept: **time** as spine; one proxy per scene.</a:t>
            </a:r>
          </a:p>
          <a:p>
            <a:pPr>
              <a:defRPr sz="1700"/>
            </a:pPr>
            <a:r>
              <a:t>Context: trade-offs + sovereignty sources.</a:t>
            </a:r>
          </a:p>
          <a:p>
            <a:pPr>
              <a:defRPr sz="1700"/>
            </a:pPr>
            <a:r>
              <a:t>Reflection: epistemic UI + user reflection + AI limits.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BDC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10′ oral + 5′ Q&amp;A · visuals / WebXR · minimal physical + QR</a:t>
            </a:r>
          </a:p>
          <a:p>
            <a:pPr>
              <a:defRPr sz="1700"/>
            </a:pPr>
            <a:r>
              <a:t>1–5′ creative video · slides on Drive · optional @biodesigned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Canonical plan: BDC_2026_Extinction_Archive_Planning_Document.md</a:t>
            </a:r>
          </a:p>
          <a:p>
            <a:pPr>
              <a:defRPr sz="1700"/>
            </a:pPr>
            <a:r>
              <a:t>Executive: PROJECT_PLAN.md · Reflection template: templates/reflection-log-webxr.html</a:t>
            </a:r>
          </a:p>
          <a:p>
            <a:pPr>
              <a:defRPr sz="1700"/>
            </a:pPr>
            <a:r>
              <a:t>GitHub preview this talk: slides/SUMMIT_DECK_GITHUB_PREVIEW.md (this file is auto-generated).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Extinction Archive: Umwelt Hypothesis Dossiers</a:t>
            </a:r>
          </a:p>
          <a:p>
            <a:r>
              <a:t>Macau University · Biodigital Excellence · biodesignchallenge.org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tinction Archive — visual theme">
  <a:themeElements>
    <a:clrScheme name="Office">
      <a:dk1>
        <a:srgbClr val="1C2834"/>
      </a:dk1>
      <a:lt1>
        <a:srgbClr val="F6F9FB"/>
      </a:lt1>
      <a:dk2>
        <a:srgbClr val="2C4A48"/>
      </a:dk2>
      <a:lt2>
        <a:srgbClr val="E4EBEF"/>
      </a:lt2>
      <a:accent1>
        <a:srgbClr val="2A6F6B"/>
      </a:accent1>
      <a:accent2>
        <a:srgbClr val="B8653C"/>
      </a:accent2>
      <a:accent3>
        <a:srgbClr val="5E7D7A"/>
      </a:accent3>
      <a:accent4>
        <a:srgbClr val="5C6B88"/>
      </a:accent4>
      <a:accent5>
        <a:srgbClr val="3F86A1"/>
      </a:accent5>
      <a:accent6>
        <a:srgbClr val="C9925A"/>
      </a:accent6>
      <a:hlink>
        <a:srgbClr val="205A7A"/>
      </a:hlink>
      <a:folHlink>
        <a:srgbClr val="4A3566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